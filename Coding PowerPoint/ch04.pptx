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1"/>
  </p:sldMasterIdLst>
  <p:notesMasterIdLst>
    <p:notesMasterId r:id="rId47"/>
  </p:notesMasterIdLst>
  <p:handoutMasterIdLst>
    <p:handoutMasterId r:id="rId48"/>
  </p:handoutMasterIdLst>
  <p:sldIdLst>
    <p:sldId id="256" r:id="rId2"/>
    <p:sldId id="257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78" r:id="rId35"/>
    <p:sldId id="379" r:id="rId36"/>
    <p:sldId id="380" r:id="rId37"/>
    <p:sldId id="381" r:id="rId38"/>
    <p:sldId id="382" r:id="rId39"/>
    <p:sldId id="383" r:id="rId40"/>
    <p:sldId id="385" r:id="rId41"/>
    <p:sldId id="384" r:id="rId42"/>
    <p:sldId id="386" r:id="rId43"/>
    <p:sldId id="387" r:id="rId44"/>
    <p:sldId id="307" r:id="rId45"/>
    <p:sldId id="308" r:id="rId46"/>
  </p:sldIdLst>
  <p:sldSz cx="9144000" cy="6858000" type="screen4x3"/>
  <p:notesSz cx="9372600" cy="7086600"/>
  <p:custDataLst>
    <p:tags r:id="rId4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nette Stillwell" initials="NBS" lastIdx="5" clrIdx="0"/>
  <p:cmAuthor id="1" name="Gerald Titchener" initials="GT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9"/>
    <a:srgbClr val="1B70A5"/>
    <a:srgbClr val="FFFFFF"/>
    <a:srgbClr val="96CDEE"/>
    <a:srgbClr val="0F3F5D"/>
    <a:srgbClr val="01773A"/>
    <a:srgbClr val="156B13"/>
    <a:srgbClr val="008000"/>
    <a:srgbClr val="F200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8" autoAdjust="0"/>
    <p:restoredTop sz="96408" autoAdjust="0"/>
  </p:normalViewPr>
  <p:slideViewPr>
    <p:cSldViewPr>
      <p:cViewPr varScale="1">
        <p:scale>
          <a:sx n="56" d="100"/>
          <a:sy n="56" d="100"/>
        </p:scale>
        <p:origin x="13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4EE4060F-EC6E-45B5-96F1-A60F0585115B}" type="datetimeFigureOut">
              <a:rPr lang="en-US" smtClean="0"/>
              <a:pPr/>
              <a:t>9/20/2023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A987596C-5E44-4393-BE44-DB7D499825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206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pPr>
              <a:defRPr/>
            </a:pPr>
            <a:fld id="{46950642-C6F2-4E46-90C1-0B12B643B3D7}" type="datetimeFigureOut">
              <a:rPr lang="en-US"/>
              <a:pPr>
                <a:defRPr/>
              </a:pPr>
              <a:t>9/19/2023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531813"/>
            <a:ext cx="3543300" cy="2657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66135"/>
            <a:ext cx="7498080" cy="31889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pPr>
              <a:defRPr/>
            </a:pPr>
            <a:fld id="{CAA8545F-A231-4F50-B1F1-95F56EBB64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405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526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944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151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Starts at 0, you have to sub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222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 is a counter</a:t>
            </a:r>
          </a:p>
          <a:p>
            <a:r>
              <a:rPr lang="en-US" dirty="0"/>
              <a:t>Index acts as a counter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735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[0:] gives the whole string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-3 is good for finding types </a:t>
            </a:r>
            <a:r>
              <a:rPr lang="en-US" dirty="0" err="1"/>
              <a:t>fo</a:t>
            </a:r>
            <a:r>
              <a:rPr lang="en-US" dirty="0"/>
              <a:t>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018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792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with a grain of salt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909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041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204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04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\n goes to the next line</a:t>
            </a:r>
          </a:p>
          <a:p>
            <a:endParaRPr lang="en-US" dirty="0"/>
          </a:p>
          <a:p>
            <a:r>
              <a:rPr lang="en-US" dirty="0"/>
              <a:t>To open a file in a different folder you have to put the file path (works as a map on how to find a file)</a:t>
            </a:r>
          </a:p>
          <a:p>
            <a:r>
              <a:rPr lang="en-US" dirty="0"/>
              <a:t>Ex:</a:t>
            </a:r>
          </a:p>
          <a:p>
            <a:r>
              <a:rPr lang="en-US" dirty="0"/>
              <a:t>D:\myfile\myfile.txt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645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 to convert number to an str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6556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= reads</a:t>
            </a:r>
          </a:p>
          <a:p>
            <a:endParaRPr lang="en-US" dirty="0"/>
          </a:p>
          <a:p>
            <a:r>
              <a:rPr lang="en-US" dirty="0"/>
              <a:t>Copy and pasta the address bar that the file app gives you.  You know what I’m talking 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613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261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read</a:t>
            </a:r>
          </a:p>
          <a:p>
            <a:r>
              <a:rPr lang="en-US" dirty="0"/>
              <a:t>W write</a:t>
            </a:r>
          </a:p>
          <a:p>
            <a:r>
              <a:rPr lang="en-US" dirty="0" err="1"/>
              <a:t>Rw</a:t>
            </a:r>
            <a:r>
              <a:rPr lang="en-US" dirty="0"/>
              <a:t> read write</a:t>
            </a:r>
          </a:p>
          <a:p>
            <a:r>
              <a:rPr lang="en-US" dirty="0"/>
              <a:t>A append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4248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620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098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8.jp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698500" y="2712698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204120" y="6363869"/>
            <a:ext cx="6201666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9" name="Picture 18" descr="Title_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20" name="Rectangle 19"/>
          <p:cNvSpPr/>
          <p:nvPr userDrawn="1"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4"/>
          <p:cNvSpPr/>
          <p:nvPr userDrawn="1"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 descr="Audio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24" name="Picture 23" descr="Swirl_3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25" name="Picture 24" descr="Swirl_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9900" y="6242083"/>
            <a:ext cx="1397115" cy="42988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869" y="448408"/>
            <a:ext cx="5719687" cy="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9" name="Picture 18" descr="Audi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20" name="Picture 19" descr="Swirl_3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21" name="Picture 20" descr="Swirl_2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  <p:sp>
        <p:nvSpPr>
          <p:cNvPr id="26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9900" y="6242083"/>
            <a:ext cx="1397115" cy="42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  <p:sp>
        <p:nvSpPr>
          <p:cNvPr id="15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397488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9900" y="6242083"/>
            <a:ext cx="1397115" cy="42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  <p:sp>
        <p:nvSpPr>
          <p:cNvPr id="15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397488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347662" y="33114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9900" y="6242083"/>
            <a:ext cx="1397115" cy="42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19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687675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  <p:sp>
        <p:nvSpPr>
          <p:cNvPr id="15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397488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347662" y="2438401"/>
            <a:ext cx="8415338" cy="60960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2"/>
          </p:nvPr>
        </p:nvSpPr>
        <p:spPr>
          <a:xfrm>
            <a:off x="338668" y="3352800"/>
            <a:ext cx="8415338" cy="60960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3"/>
          </p:nvPr>
        </p:nvSpPr>
        <p:spPr>
          <a:xfrm>
            <a:off x="347662" y="4114800"/>
            <a:ext cx="8415338" cy="60960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4"/>
          </p:nvPr>
        </p:nvSpPr>
        <p:spPr>
          <a:xfrm>
            <a:off x="372533" y="4876800"/>
            <a:ext cx="8415338" cy="60960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9900" y="6242083"/>
            <a:ext cx="1397115" cy="42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07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44238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  <p:sp>
        <p:nvSpPr>
          <p:cNvPr id="15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397488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347662" y="2119278"/>
            <a:ext cx="8415338" cy="47152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2"/>
          </p:nvPr>
        </p:nvSpPr>
        <p:spPr>
          <a:xfrm>
            <a:off x="338668" y="2740830"/>
            <a:ext cx="8415338" cy="38337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3"/>
          </p:nvPr>
        </p:nvSpPr>
        <p:spPr>
          <a:xfrm>
            <a:off x="381000" y="3200400"/>
            <a:ext cx="8415338" cy="39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4"/>
          </p:nvPr>
        </p:nvSpPr>
        <p:spPr>
          <a:xfrm>
            <a:off x="364064" y="3668730"/>
            <a:ext cx="8415338" cy="44607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5"/>
          </p:nvPr>
        </p:nvSpPr>
        <p:spPr>
          <a:xfrm>
            <a:off x="397931" y="4267200"/>
            <a:ext cx="8415338" cy="39295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6"/>
          </p:nvPr>
        </p:nvSpPr>
        <p:spPr>
          <a:xfrm>
            <a:off x="423862" y="5322048"/>
            <a:ext cx="8415338" cy="39295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/>
          </p:nvPr>
        </p:nvSpPr>
        <p:spPr>
          <a:xfrm>
            <a:off x="423862" y="4788648"/>
            <a:ext cx="8415338" cy="39295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9900" y="6242083"/>
            <a:ext cx="1397115" cy="42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474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9900" y="6242083"/>
            <a:ext cx="1397115" cy="42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5126" y="6611007"/>
            <a:ext cx="8014247" cy="21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7" r:id="rId4"/>
    <p:sldLayoutId id="2147483758" r:id="rId5"/>
    <p:sldLayoutId id="2147483759" r:id="rId6"/>
    <p:sldLayoutId id="2147483755" r:id="rId7"/>
    <p:sldLayoutId id="2147483756" r:id="rId8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2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jpeg"/><Relationship Id="rId5" Type="http://schemas.openxmlformats.org/officeDocument/2006/relationships/image" Target="../media/image26.wmf"/><Relationship Id="rId4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227950"/>
            <a:ext cx="7747000" cy="8617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Fundamentals of Python: First Programs </a:t>
            </a:r>
            <a:br>
              <a:rPr lang="en-US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Edition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98500" y="3352800"/>
            <a:ext cx="7747000" cy="797141"/>
          </a:xfrm>
        </p:spPr>
        <p:txBody>
          <a:bodyPr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4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Strings and Text Files 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67216" y="6284825"/>
            <a:ext cx="5562600" cy="366183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99752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01258"/>
            <a:ext cx="61722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 (1 of 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2641600" y="2942670"/>
            <a:ext cx="6172200" cy="192360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FA9"/>
                </a:solidFill>
                <a:ea typeface="ＭＳ Ｐゴシック" panose="020B0600070205080204" pitchFamily="34" charset="-128"/>
              </a:rPr>
              <a:t>4.1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Access individual characters in a string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FA9"/>
                </a:solidFill>
                <a:ea typeface="ＭＳ Ｐゴシック" panose="020B0600070205080204" pitchFamily="34" charset="-128"/>
              </a:rPr>
              <a:t>4.2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Retrieve a substring from a string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FA9"/>
                </a:solidFill>
                <a:ea typeface="ＭＳ Ｐゴシック" panose="020B0600070205080204" pitchFamily="34" charset="-128"/>
              </a:rPr>
              <a:t>4.3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Search for a substring in a string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FA9"/>
                </a:solidFill>
                <a:ea typeface="ＭＳ Ｐゴシック" panose="020B0600070205080204" pitchFamily="34" charset="-128"/>
              </a:rPr>
              <a:t>4.4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Convert a string representation of a number from one base to another base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384865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685841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01258"/>
            <a:ext cx="61722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 (2 of 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2641600" y="2942670"/>
            <a:ext cx="6172200" cy="250837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FA9"/>
                </a:solidFill>
                <a:ea typeface="ＭＳ Ｐゴシック" panose="020B0600070205080204" pitchFamily="34" charset="-128"/>
              </a:rPr>
              <a:t>4.5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Use string methods to manipulate strings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FA9"/>
                </a:solidFill>
                <a:ea typeface="ＭＳ Ｐゴシック" panose="020B0600070205080204" pitchFamily="34" charset="-128"/>
              </a:rPr>
              <a:t>4.6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Open a text file for output and write strings or numbers to the file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FA9"/>
                </a:solidFill>
                <a:ea typeface="ＭＳ Ｐゴシック" panose="020B0600070205080204" pitchFamily="34" charset="-128"/>
              </a:rPr>
              <a:t>4.7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Open a text file for input and read strings or numbers from the file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FA9"/>
                </a:solidFill>
                <a:ea typeface="ＭＳ Ｐゴシック" panose="020B0600070205080204" pitchFamily="34" charset="-128"/>
              </a:rPr>
              <a:t>4.8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Use library functions to access and navigate a file system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384865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62286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23489"/>
            <a:ext cx="6553200" cy="8617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Accessing Characters and Substrings in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738664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 this section, we examine the internal structure of a string more closely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You will learn how to extract portions of a string called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substrings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506429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Structure of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157514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An integer can’</a:t>
            </a:r>
            <a:r>
              <a:rPr lang="en-US" altLang="ja-JP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 be factored into more primitive parts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string is a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data structure 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Data structure: Consists of smaller pieces of data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String</a:t>
            </a:r>
            <a:r>
              <a:rPr lang="en-IN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 length: Number of characters it contains (0+)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len </a:t>
            </a:r>
            <a:r>
              <a:rPr lang="en-US" dirty="0">
                <a:solidFill>
                  <a:schemeClr val="tx1"/>
                </a:solidFill>
              </a:rPr>
              <a:t>function returns the string’s length, which is the number of characters it contains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56076" y="3759438"/>
            <a:ext cx="8415338" cy="1052596"/>
          </a:xfrm>
        </p:spPr>
        <p:txBody>
          <a:bodyPr/>
          <a:lstStyle/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len(“Hi there!”)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9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len(“”)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pic>
        <p:nvPicPr>
          <p:cNvPr id="5" name="Picture 4" descr="Figure 4-1 Characters and their positions in a string. The positions of the characters in the string, hi there exclamation point, are: H, 0; i, 1; space, 2; t, 3; h, 4; e, 5; r, 6; e, 7; exclamation point, 8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281" y="4898646"/>
            <a:ext cx="3724609" cy="1265852"/>
          </a:xfrm>
          <a:prstGeom prst="rect">
            <a:avLst/>
          </a:prstGeom>
        </p:spPr>
      </p:pic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825206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Subscript Operator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form of the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subscript operator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is: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64754" y="1905000"/>
            <a:ext cx="8415338" cy="680186"/>
          </a:xfrm>
        </p:spPr>
        <p:txBody>
          <a:bodyPr/>
          <a:lstStyle/>
          <a:p>
            <a:pPr marL="0" indent="358775"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&lt;a string&gt;[&lt;an integer expression&gt;]</a:t>
            </a:r>
            <a:endParaRPr lang="en-US" sz="1600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Example: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2"/>
          </p:nvPr>
        </p:nvSpPr>
        <p:spPr>
          <a:xfrm>
            <a:off x="347214" y="2615724"/>
            <a:ext cx="8415338" cy="3508653"/>
          </a:xfrm>
        </p:spPr>
        <p:txBody>
          <a:bodyPr/>
          <a:lstStyle/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name = “Alan Turing”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name[0] # Examine the first character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‘A’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name[3] # Examine the fourth character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‘n’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name[len(name)] # Oops! An index error!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Traceback (most recent call last):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   File “&lt;std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in&gt;”, line 1, in &lt;module&gt;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IndexError: string index out of range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name[len(name) − 1] # Examine the last character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‘g’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name[−l] # Shorthand for the last character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‘g’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name[−2] # Shorthand for next to last character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‘n’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8659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Subscript Operator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924869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Subscript operator is useful when you want to use the positions as well as the characters in a string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Use a count-controlled loop</a:t>
            </a:r>
            <a:endParaRPr lang="en-US" sz="1600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30438" y="2598637"/>
            <a:ext cx="8415338" cy="2806922"/>
          </a:xfrm>
        </p:spPr>
        <p:txBody>
          <a:bodyPr/>
          <a:lstStyle/>
          <a:p>
            <a:pPr marL="228600" lvl="1" indent="0"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data = “Hi there!”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for index in range(len(data)):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print(index, data[index])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0 H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1 i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3 t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pt-BR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4 h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pt-BR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5 e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pt-BR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6 r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pt-BR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7 e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pt-BR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8 !</a:t>
            </a:r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396711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Slicing for Substrings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18801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Python</a:t>
            </a:r>
            <a:r>
              <a:rPr lang="en-IN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 subscript operator can be used to obtain a substring through a process called </a:t>
            </a:r>
            <a:r>
              <a:rPr lang="en-US" altLang="ja-JP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slicing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Place a colon (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: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) in the subscript; an integer value can appear on either side of the colon</a:t>
            </a: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21892" y="2810372"/>
            <a:ext cx="8415338" cy="3420936"/>
          </a:xfrm>
        </p:spPr>
        <p:txBody>
          <a:bodyPr/>
          <a:lstStyle/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name = “myfile.txt” # The entire string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name[0:]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‘myfile.txt’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name[0:1] # The first character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‘m’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name[0:2] # The first two characters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‘my’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name[:len(name)] # The entire string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‘myfile.txt’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name[−3:] # The last three characters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‘txt’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name[2:6] # Drill to extract 'file'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‘file’</a:t>
            </a:r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505741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for a Substring with the in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663532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When used with strings, the left operand of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is a target substring and the right operand is the string to be searched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Returns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True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if target string is somewhere in search string, or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False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otherwise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This code segment traverses a list of filenames and prints just the filenames that have a .txt extension: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47662" y="3302951"/>
            <a:ext cx="8415338" cy="1578894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fileList = [“myfile.txt”, “myprogram.exe”, “yourfile.txt”]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for fileName in fileList: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if “.txt” in fileName: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print(fileName)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my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file.txt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your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file.txt</a:t>
            </a:r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317333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3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Encryption (1 of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236218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It is easy to observe data crossing a network, particularly in wireless networks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Attacker may use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sniffing software</a:t>
            </a: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Data encryption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can be used to protect information transmitted on networks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Many protocols have secure versions (e.g., H</a:t>
            </a:r>
            <a:r>
              <a:rPr lang="en-US" sz="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</a:t>
            </a:r>
            <a:r>
              <a:rPr lang="en-US" sz="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</a:t>
            </a:r>
            <a:r>
              <a:rPr lang="en-US" sz="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</a:t>
            </a:r>
            <a:r>
              <a:rPr lang="en-US" sz="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S)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One or more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keys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are use to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encrypt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messages to produce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cipher text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and to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decrypt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cipher text back to its original plain text form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Examples: Caesar cipher, block cipher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948438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3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Encryption (2 of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2389885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007FA9"/>
              </a:buClr>
            </a:pP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Caesar cipher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replaces each character in plain text with a character a given distance away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Example if Caesar cipher equals three characters: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the string “invaders” would be encrypted as “l</a:t>
            </a:r>
            <a:r>
              <a:rPr lang="en-US" sz="1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sz="1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y</a:t>
            </a:r>
            <a:r>
              <a:rPr lang="en-US" sz="1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</a:t>
            </a:r>
            <a:r>
              <a:rPr lang="en-US" sz="1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en-US" sz="1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sz="1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u</a:t>
            </a:r>
            <a:r>
              <a:rPr lang="en-US" sz="1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v”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To decrypt: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Apply a method that uses the same distance value but looks to the left of each character for replacement value</a:t>
            </a:r>
          </a:p>
        </p:txBody>
      </p:sp>
      <p:pic>
        <p:nvPicPr>
          <p:cNvPr id="5" name="Picture 4" descr="Figure 4-2 Ay Caesar cipher with distance plus 3 for the lowercase alphabet. Ay S C I I values for the plaintext ay to z are: ay, 97; b, 98; c, 99; d, 100; e, 101, ellipsis, v, 118; w, 119; x, 120; y, 121; z, 122. The cipher text with distance + 3 for Ay S C I I values are: d, 100; e, 101; f, 102; g, 103; h, 104, ellipsis, y, 121; z, 122; ay, 97; b, 98; c, 99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114800"/>
            <a:ext cx="4100434" cy="1981200"/>
          </a:xfrm>
          <a:prstGeom prst="rect">
            <a:avLst/>
          </a:prstGeom>
        </p:spPr>
      </p:pic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691561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Encryption (3 of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21726"/>
            <a:ext cx="8415338" cy="603242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  <a:cs typeface="Courier New" panose="02070309020205020404" pitchFamily="49" charset="0"/>
              </a:rPr>
              <a:t>ord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function returns the ordinal position in the A</a:t>
            </a:r>
            <a:r>
              <a:rPr lang="en-US" sz="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</a:t>
            </a:r>
            <a:r>
              <a:rPr lang="en-US" sz="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</a:t>
            </a:r>
            <a:r>
              <a:rPr lang="en-US" sz="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</a:t>
            </a:r>
            <a:r>
              <a:rPr lang="en-US" sz="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 sequence</a:t>
            </a:r>
          </a:p>
          <a:p>
            <a:pPr lvl="1">
              <a:lnSpc>
                <a:spcPct val="90000"/>
              </a:lnSpc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  <a:cs typeface="Courier New" panose="02070309020205020404" pitchFamily="49" charset="0"/>
              </a:rPr>
              <a:t>chr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is the inverse function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47662" y="2192708"/>
            <a:ext cx="8415338" cy="3988784"/>
          </a:xfrm>
        </p:spPr>
        <p:txBody>
          <a:bodyPr/>
          <a:lstStyle/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“““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File: encrypt.py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Encrypts an input string of lowercase letters and prints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the result. The other input is the distance value.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”””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plainText = input(“Enter a one-word, lowercase message: ”)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distance = int(input(“Enter the distance value: ”))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code = “ ”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ch in plainText: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ord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value = ord(ch)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cipherValue = ord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value + distance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if cipherValue &gt; ord(‘z’):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  cipherValue = ord(‘a’) + distance − \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		  (ord(‘z’) − ordvalue + 1)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code += chr(cipherValue)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print(code)</a:t>
            </a:r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359548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Encryption (4 of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76999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To decrypt: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73300" y="1887908"/>
            <a:ext cx="8415338" cy="3988784"/>
          </a:xfrm>
        </p:spPr>
        <p:txBody>
          <a:bodyPr/>
          <a:lstStyle/>
          <a:p>
            <a:pPr marL="228600" lvl="1" indent="0">
              <a:lnSpc>
                <a:spcPct val="90000"/>
              </a:lnSpc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“““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File: decrypt.py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Decrypts an input string of lowercase letters and prints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the result. The other input is the distance value.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”””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code = input(“Enter the coded text: ”)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distance = int(input(“Enter the distance value: ”))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plainText = “ ”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ch in code: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ord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value = ord(ch)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cipherValue = ord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value − distance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if cipherValue &lt; ord(‘a’):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    cipherValue = ord(‘z’) − \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            	   (distance − (ord(‘a’) − ordvalue − 1))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plainText += chr(cipherValue)</a:t>
            </a:r>
          </a:p>
          <a:p>
            <a:pPr marL="2286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print(plainText)</a:t>
            </a:r>
            <a:endParaRPr lang="en-IN" b="1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53777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Encryption (5 of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76999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Executions of the two scripts:</a:t>
            </a: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1"/>
          </p:nvPr>
        </p:nvSpPr>
        <p:spPr>
          <a:xfrm>
            <a:off x="304932" y="1904286"/>
            <a:ext cx="8415338" cy="1963614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Enter a one-word, lowercase message: invaders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Enter the distance value: 3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L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q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d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g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h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u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Enter the coded text: l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q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d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g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h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u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Enter the distance value: 3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Invaders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2"/>
          </p:nvPr>
        </p:nvSpPr>
        <p:spPr>
          <a:xfrm>
            <a:off x="364306" y="4063425"/>
            <a:ext cx="8415338" cy="58477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Caesar cipher worked well in ancient times, but is easy to break using modern computers</a:t>
            </a:r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494284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3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Encryption (6 of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1312667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Block cipher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Uses plaintext character to compute two or more encrypted characters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encrypted character is computed using two or more plaintext characters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Uses an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invertible matrix</a:t>
            </a: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149442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Strings and Number Systems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205219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Arithmetic operations use the decimal number system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Called the base ten number system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Binary number system is used to represent information in a digital computer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Called the base two number system (0 and 1)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Other number systems: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Octal (base eight) and hexadecimal (base 16)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38984" y="3846638"/>
            <a:ext cx="8415338" cy="163121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415 in binary notation 1100111112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415 in octal notation 6378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415 in decimal notation 41510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415 in hexadecimal notation 19F16</a:t>
            </a: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547333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Strings and Number Systems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58477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digits used in each system are counted from 0 to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n</a:t>
            </a:r>
            <a:r>
              <a:rPr lang="en-US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− 1, where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n</a:t>
            </a:r>
            <a:r>
              <a:rPr lang="en-US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is the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system</a:t>
            </a:r>
            <a:r>
              <a:rPr lang="en-IN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 base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2"/>
          </p:nvPr>
        </p:nvSpPr>
        <p:spPr>
          <a:xfrm>
            <a:off x="355760" y="2362914"/>
            <a:ext cx="4538132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To represent digits with values larger than</a:t>
            </a:r>
            <a:endParaRPr lang="en-IN" dirty="0"/>
          </a:p>
        </p:txBody>
      </p:sp>
      <p:graphicFrame>
        <p:nvGraphicFramePr>
          <p:cNvPr id="16" name="Content Placeholder 15" descr="9 sub 10"/>
          <p:cNvGraphicFramePr>
            <a:graphicFrameLocks noGrp="1" noChangeAspect="1"/>
          </p:cNvGraphicFramePr>
          <p:nvPr>
            <p:ph idx="11"/>
            <p:extLst>
              <p:ext uri="{D42A27DB-BD31-4B8C-83A1-F6EECF244321}">
                <p14:modId xmlns:p14="http://schemas.microsoft.com/office/powerpoint/2010/main" val="2802272524"/>
              </p:ext>
            </p:extLst>
          </p:nvPr>
        </p:nvGraphicFramePr>
        <p:xfrm>
          <a:off x="4910270" y="2336562"/>
          <a:ext cx="425292" cy="364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228600" progId="Equation.DSMT4">
                  <p:embed/>
                </p:oleObj>
              </mc:Choice>
              <mc:Fallback>
                <p:oleObj name="Equation" r:id="rId2" imgW="266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910270" y="2336562"/>
                        <a:ext cx="425292" cy="364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ntent Placeholder 10"/>
          <p:cNvSpPr>
            <a:spLocks noGrp="1"/>
          </p:cNvSpPr>
          <p:nvPr>
            <p:ph idx="13"/>
          </p:nvPr>
        </p:nvSpPr>
        <p:spPr>
          <a:xfrm>
            <a:off x="5368184" y="2353654"/>
            <a:ext cx="2971800" cy="29238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systems such as base 16 use</a:t>
            </a:r>
            <a:endParaRPr lang="en-IN" dirty="0"/>
          </a:p>
        </p:txBody>
      </p:sp>
      <p:sp>
        <p:nvSpPr>
          <p:cNvPr id="12" name="Content Placeholder 11"/>
          <p:cNvSpPr>
            <a:spLocks noGrp="1"/>
          </p:cNvSpPr>
          <p:nvPr>
            <p:ph idx="14"/>
          </p:nvPr>
        </p:nvSpPr>
        <p:spPr>
          <a:xfrm>
            <a:off x="381156" y="2653201"/>
            <a:ext cx="1276860" cy="632660"/>
          </a:xfrm>
        </p:spPr>
        <p:txBody>
          <a:bodyPr/>
          <a:lstStyle/>
          <a:p>
            <a:pPr marL="0" indent="179388">
              <a:buNone/>
            </a:pPr>
            <a:r>
              <a:rPr lang="en-US">
                <a:solidFill>
                  <a:schemeClr val="tx1"/>
                </a:solidFill>
                <a:ea typeface="ＭＳ Ｐゴシック" panose="020B0600070205080204" pitchFamily="34" charset="-128"/>
              </a:rPr>
              <a:t>letters</a:t>
            </a:r>
          </a:p>
          <a:p>
            <a:pPr lvl="1">
              <a:buClr>
                <a:srgbClr val="007FA9"/>
              </a:buClr>
            </a:pPr>
            <a:r>
              <a:rPr lang="en-US">
                <a:solidFill>
                  <a:schemeClr val="tx1"/>
                </a:solidFill>
                <a:ea typeface="ＭＳ Ｐゴシック" panose="020B0600070205080204" pitchFamily="34" charset="-128"/>
              </a:rPr>
              <a:t>Example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:</a:t>
            </a:r>
            <a:endParaRPr lang="en-IN" dirty="0"/>
          </a:p>
        </p:txBody>
      </p:sp>
      <p:graphicFrame>
        <p:nvGraphicFramePr>
          <p:cNvPr id="17" name="Object 15" descr="A sub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688686"/>
              </p:ext>
            </p:extLst>
          </p:nvPr>
        </p:nvGraphicFramePr>
        <p:xfrm>
          <a:off x="1663217" y="2985547"/>
          <a:ext cx="339521" cy="339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228600" progId="Equation.DSMT4">
                  <p:embed/>
                </p:oleObj>
              </mc:Choice>
              <mc:Fallback>
                <p:oleObj name="Equation" r:id="rId4" imgW="228600" imgH="228600" progId="Equation.DSMT4">
                  <p:embed/>
                  <p:pic>
                    <p:nvPicPr>
                      <p:cNvPr id="16" name="Content Placeholder 1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63217" y="2985547"/>
                        <a:ext cx="339521" cy="3395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12"/>
          <p:cNvSpPr>
            <a:spLocks noGrp="1"/>
          </p:cNvSpPr>
          <p:nvPr>
            <p:ph idx="15"/>
          </p:nvPr>
        </p:nvSpPr>
        <p:spPr>
          <a:xfrm>
            <a:off x="2027335" y="3013644"/>
            <a:ext cx="2236055" cy="263149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represents the quantity</a:t>
            </a:r>
            <a:endParaRPr lang="en-IN" sz="1800" dirty="0"/>
          </a:p>
        </p:txBody>
      </p:sp>
      <p:graphicFrame>
        <p:nvGraphicFramePr>
          <p:cNvPr id="18" name="Object 15" descr="10 sub 10,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619345"/>
              </p:ext>
            </p:extLst>
          </p:nvPr>
        </p:nvGraphicFramePr>
        <p:xfrm>
          <a:off x="4263390" y="3008377"/>
          <a:ext cx="471280" cy="326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120" imgH="228600" progId="Equation.DSMT4">
                  <p:embed/>
                </p:oleObj>
              </mc:Choice>
              <mc:Fallback>
                <p:oleObj name="Equation" r:id="rId6" imgW="330120" imgH="228600" progId="Equation.DSMT4">
                  <p:embed/>
                  <p:pic>
                    <p:nvPicPr>
                      <p:cNvPr id="17" name="Content Placeholder 1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63390" y="3008377"/>
                        <a:ext cx="471280" cy="3262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ontent Placeholder 13"/>
          <p:cNvSpPr>
            <a:spLocks noGrp="1"/>
          </p:cNvSpPr>
          <p:nvPr>
            <p:ph idx="16"/>
          </p:nvPr>
        </p:nvSpPr>
        <p:spPr>
          <a:xfrm>
            <a:off x="4702328" y="3001232"/>
            <a:ext cx="947738" cy="292388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ea typeface="ＭＳ Ｐゴシック" panose="020B0600070205080204" pitchFamily="34" charset="-128"/>
              </a:rPr>
              <a:t>whereas</a:t>
            </a:r>
            <a:endParaRPr lang="en-IN" dirty="0"/>
          </a:p>
        </p:txBody>
      </p:sp>
      <p:graphicFrame>
        <p:nvGraphicFramePr>
          <p:cNvPr id="19" name="Object15" descr="10 sub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217180"/>
              </p:ext>
            </p:extLst>
          </p:nvPr>
        </p:nvGraphicFramePr>
        <p:xfrm>
          <a:off x="5620197" y="3013644"/>
          <a:ext cx="408149" cy="319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1960" imgH="228600" progId="Equation.DSMT4">
                  <p:embed/>
                </p:oleObj>
              </mc:Choice>
              <mc:Fallback>
                <p:oleObj name="Equation" r:id="rId8" imgW="291960" imgH="228600" progId="Equation.DSMT4">
                  <p:embed/>
                  <p:pic>
                    <p:nvPicPr>
                      <p:cNvPr id="18" name="Content Placeholder 1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620197" y="3013644"/>
                        <a:ext cx="408149" cy="319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Content Placeholder 14"/>
          <p:cNvSpPr>
            <a:spLocks noGrp="1"/>
          </p:cNvSpPr>
          <p:nvPr>
            <p:ph idx="17"/>
          </p:nvPr>
        </p:nvSpPr>
        <p:spPr>
          <a:xfrm>
            <a:off x="6043215" y="2997826"/>
            <a:ext cx="2499731" cy="29238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represents the quantity</a:t>
            </a:r>
            <a:endParaRPr lang="en-IN" dirty="0"/>
          </a:p>
        </p:txBody>
      </p:sp>
      <p:graphicFrame>
        <p:nvGraphicFramePr>
          <p:cNvPr id="20" name="Object 15" descr="16 sub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167004"/>
              </p:ext>
            </p:extLst>
          </p:nvPr>
        </p:nvGraphicFramePr>
        <p:xfrm>
          <a:off x="8523889" y="3020137"/>
          <a:ext cx="408149" cy="319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60" imgH="228600" progId="Equation.DSMT4">
                  <p:embed/>
                </p:oleObj>
              </mc:Choice>
              <mc:Fallback>
                <p:oleObj name="Equation" r:id="rId10" imgW="291960" imgH="228600" progId="Equation.DSMT4">
                  <p:embed/>
                  <p:pic>
                    <p:nvPicPr>
                      <p:cNvPr id="19" name="Content Placeholder 1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523889" y="3020137"/>
                        <a:ext cx="408149" cy="319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792626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23489"/>
            <a:ext cx="8026400" cy="8617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Positional System for Representing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positional notation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a digit has a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positional value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determined by raising the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559170" y="1883228"/>
            <a:ext cx="4470030" cy="29238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base to the power specified by the position</a:t>
            </a:r>
            <a:endParaRPr lang="en-IN" dirty="0"/>
          </a:p>
        </p:txBody>
      </p:sp>
      <p:graphicFrame>
        <p:nvGraphicFramePr>
          <p:cNvPr id="8" name="Object 7" descr="Base to the power of Position 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564435"/>
              </p:ext>
            </p:extLst>
          </p:nvPr>
        </p:nvGraphicFramePr>
        <p:xfrm>
          <a:off x="5096049" y="1820720"/>
          <a:ext cx="1158084" cy="372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000" imgH="228600" progId="Equation.DSMT4">
                  <p:embed/>
                </p:oleObj>
              </mc:Choice>
              <mc:Fallback>
                <p:oleObj name="Equation" r:id="rId2" imgW="711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6049" y="1820720"/>
                        <a:ext cx="1158084" cy="3722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 descr="415 sub 10 = 4 times 10 squared + 1 times 10 to the 1 + 5 times 10 to the 0 = 4 times 100 + 1 times 10 + 5 times 1 = 400 + 10 + 5 = 415. 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966691"/>
              </p:ext>
            </p:extLst>
          </p:nvPr>
        </p:nvGraphicFramePr>
        <p:xfrm>
          <a:off x="637483" y="2236917"/>
          <a:ext cx="2463120" cy="1337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8000" imgH="888840" progId="Equation.DSMT4">
                  <p:embed/>
                </p:oleObj>
              </mc:Choice>
              <mc:Fallback>
                <p:oleObj name="Equation" r:id="rId4" imgW="163800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7483" y="2236917"/>
                        <a:ext cx="2463120" cy="1337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Figure 4-3 The first three positional values in the base - 10 number system. The figure shows the first three positional values in the base - 10 number system. Position values: 100, 10, 1. Positions: 2, 1, 0.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962400"/>
            <a:ext cx="5723601" cy="1268217"/>
          </a:xfrm>
          <a:prstGeom prst="rect">
            <a:avLst/>
          </a:prstGeom>
        </p:spPr>
      </p:pic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570572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3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Converting Binary to Decimal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1184940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digit or bit in binary number has positional value that is power of 2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We occasionally refer to a binary number as a string of bits or a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bit string</a:t>
            </a: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To determine the integer quantity that a string of bits represents:</a:t>
            </a:r>
          </a:p>
        </p:txBody>
      </p:sp>
      <p:graphicFrame>
        <p:nvGraphicFramePr>
          <p:cNvPr id="4" name="Object 3" descr="1 1 0 0 1 1 1 sub 2 = 1 times 2 to the sixth, + 1 times 2 to the fifth, + 0 times 2 to the fourth, + 0 times 2 cubed, + 1 times 2 squared, + 1 times 2 to the first, + 1 times 2 to the 0 = 1 times 64 + 1 times 32 + 0 times 16 + 0 times 8 + 1 times 4 + 1 times 2 + 1 times 1 = 64 + 32 + 4 + 2 + 1 = 103.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873870"/>
              </p:ext>
            </p:extLst>
          </p:nvPr>
        </p:nvGraphicFramePr>
        <p:xfrm>
          <a:off x="550492" y="2895600"/>
          <a:ext cx="5087510" cy="1391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51160" imgH="888840" progId="Equation.DSMT4">
                  <p:embed/>
                </p:oleObj>
              </mc:Choice>
              <mc:Fallback>
                <p:oleObj name="Equation" r:id="rId2" imgW="325116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0492" y="2895600"/>
                        <a:ext cx="5087510" cy="1391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759922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Converting Binary to Decimal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positional value is computed by using the ** operator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47662" y="1905000"/>
            <a:ext cx="8415338" cy="4210383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“““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File: binary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to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decimal.py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Converts a string of bits to a decimal integer.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”””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bitString = input(“Enter a string of bits: ”)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decimal = 0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exponent = len(bitString) − 1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digit in bitString: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decimal = decimal + int(digit) * 2 ** exponent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exponent = exponent − 1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print(“The integer value is”, decimal)</a:t>
            </a:r>
          </a:p>
          <a:p>
            <a:pPr marL="228600" lvl="1" indent="0">
              <a:spcBef>
                <a:spcPts val="0"/>
              </a:spcBef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Enter a string of bits: 1111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The integer value is 15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Enter a string of bits: 1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The integer value is 5</a:t>
            </a:r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478211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3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Converting Decimal to Binary (1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2654573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How are integers converted from decimal to binary: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One algorithm uses division and subtraction instead of multiplication and addition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Repeatedly divides the decimal number by 2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After each division, the remainder (either a 0 or 1) is placed at the beginning of a string of bits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Quotient becomes the next dividend in the process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Process continues while the decimal number is greater than 0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255484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3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Converting Decimal to Binary (2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4476995"/>
          </a:xfrm>
        </p:spPr>
        <p:txBody>
          <a:bodyPr/>
          <a:lstStyle/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“““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File: decimaltobinary.py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Converts a decimal integer to a string of bits.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”””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decimal = int(input(“Enter a decimal integer: ”))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if decimal == 0: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print(0)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else: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print(“Quotient Remainder Binary”)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bitString = “ ”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while decimal &gt; 0: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remainder = decimal % 2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decimal = decimal // 2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bitString = str(remainder) + bitString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print(“%5d%8d%12s” % (decimal, remainder, bitString))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print(“The binary representation is”, bitString)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11963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Converting Decimal to Binary (3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>
              <a:spcBef>
                <a:spcPts val="0"/>
              </a:spcBef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Result of running preceding script: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47662" y="2090870"/>
            <a:ext cx="8415338" cy="2983894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Enter a decimal integer: 34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Quotient Remainder Binary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17 0 0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8 1 10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4 0 010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2 0 0010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1 0 00010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0 1 100010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The binary representation is 100010</a:t>
            </a:r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690269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3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Conversion Shortcuts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7102475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 quick way to compute the decimal value of the number 10000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is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graphicFrame>
        <p:nvGraphicFramePr>
          <p:cNvPr id="4" name="Object 3" descr="2 to the power of 4 or 16 sub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842666"/>
              </p:ext>
            </p:extLst>
          </p:nvPr>
        </p:nvGraphicFramePr>
        <p:xfrm>
          <a:off x="7485005" y="1525006"/>
          <a:ext cx="879903" cy="355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41200" progId="Equation.DSMT4">
                  <p:embed/>
                </p:oleObj>
              </mc:Choice>
              <mc:Fallback>
                <p:oleObj name="Equation" r:id="rId2" imgW="5968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485005" y="1525006"/>
                        <a:ext cx="879903" cy="355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989712"/>
              </p:ext>
            </p:extLst>
          </p:nvPr>
        </p:nvGraphicFramePr>
        <p:xfrm>
          <a:off x="1219200" y="2057400"/>
          <a:ext cx="6096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Decimal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Binary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567733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Octal and Hexadecimal Numbers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58477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To convert from octal to binary, start by assuming that each digit in the octal number represents three digits in the corresponding binary number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 descr="Figure 4-4 The conversion of octal to binary. The conversion of octal to binary for 4 3 7 is 1 0 0, 0 1 1, 1 1 1, respectively. 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514600"/>
            <a:ext cx="4338298" cy="1985717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47662" y="4825425"/>
            <a:ext cx="8415338" cy="58477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To convert binary to octal, you begin at the right and factor the bits into groups of three bits each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852301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Octal and Hexadecimal Numbers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58477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To convert from hex to binary, replace each hex digit with the corresponding 4-bit binary number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Figure 4-5 The conversion of hexadecimal to binary. The conversion of hexadecimal to binary for 4 3 F is 0 1 0 0, 0 0 1 1, 1 1 1 1, respectively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590800"/>
            <a:ext cx="4291054" cy="1703509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47662" y="4749225"/>
            <a:ext cx="8415338" cy="58477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To convert from binary to hex, factor the bits into groups of 4 and look up the corresponding hex digits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01259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Methods (1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58477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Python includes a set of string operations called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methods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that make tasks like counting the words in a single sentence easy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30570" y="2192708"/>
            <a:ext cx="8415338" cy="2894639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sentence = input(“Enter a sentence: ”)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Enter a sentence: This sentence has no long words.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listOfWords = sentence.split()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print(“There are”, len(listOfWords), “words. ”)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There are 6 words.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sum = 0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for word in listOfWords: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sum += len(word)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print(“The average word length is”, sum / len(listOfWords))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The average word length is 4.5</a:t>
            </a:r>
            <a:endParaRPr lang="en-US" b="1" dirty="0">
              <a:solidFill>
                <a:schemeClr val="tx1"/>
              </a:solidFill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8800724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Methods (2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632481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method behaves like a function, but has a slightly different syntax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method is always called with a given data value called an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object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1"/>
          </p:nvPr>
        </p:nvSpPr>
        <p:spPr>
          <a:xfrm>
            <a:off x="957262" y="2327651"/>
            <a:ext cx="5976938" cy="263149"/>
          </a:xfrm>
        </p:spPr>
        <p:txBody>
          <a:bodyPr/>
          <a:lstStyle/>
          <a:p>
            <a:pPr marL="0" lvl="1" indent="0">
              <a:spcBef>
                <a:spcPts val="1200"/>
              </a:spcBef>
              <a:buClr>
                <a:schemeClr val="accent2"/>
              </a:buClr>
              <a:buNone/>
            </a:pP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  <a:cs typeface="Courier New" panose="02070309020205020404" pitchFamily="49" charset="0"/>
              </a:rPr>
              <a:t>&lt;an object&gt;.&lt;method name&gt;(&lt;argument-1&gt;,..., &lt;argument-n&gt;)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2"/>
          </p:nvPr>
        </p:nvSpPr>
        <p:spPr>
          <a:xfrm>
            <a:off x="364306" y="2819400"/>
            <a:ext cx="8415338" cy="2263697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Methods can expect arguments and return values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method knows about the internal state of the object with which it is called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 Python, all data values are objects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View a complete list and documentation of string methods by entering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  <a:cs typeface="Courier New" panose="02070309020205020404" pitchFamily="49" charset="0"/>
              </a:rPr>
              <a:t>dir(str)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at a shell prompt; you enter</a:t>
            </a:r>
          </a:p>
          <a:p>
            <a:pPr lvl="1">
              <a:buClr>
                <a:srgbClr val="007FA9"/>
              </a:buClr>
            </a:pP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  <a:cs typeface="Courier New" panose="02070309020205020404" pitchFamily="49" charset="0"/>
              </a:rPr>
              <a:t>help(str.&lt;method-name&gt;) 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to receive documentation on an individual method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669502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Methods (3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Example: extracting a filename</a:t>
            </a:r>
            <a:r>
              <a:rPr lang="ja-JP" alt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 extension</a:t>
            </a:r>
            <a:endParaRPr lang="en-US" altLang="ja-JP" sz="1800" b="1" dirty="0">
              <a:solidFill>
                <a:schemeClr val="tx1"/>
              </a:solidFill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56208" y="1933510"/>
            <a:ext cx="5892192" cy="1963614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"my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file.txt".split('.')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['my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file', 'txt']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"my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file.py".split('.')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['my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file', 'py']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"my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file.html".split('.')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['my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file', 'html']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2"/>
          </p:nvPr>
        </p:nvSpPr>
        <p:spPr>
          <a:xfrm>
            <a:off x="338668" y="3981170"/>
            <a:ext cx="8415338" cy="895630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subscript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[−1]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extracts the last element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Can be used to write a general expression for obtaining any filename</a:t>
            </a:r>
            <a:r>
              <a:rPr lang="en-IN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 extension, as follows: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3"/>
          </p:nvPr>
        </p:nvSpPr>
        <p:spPr>
          <a:xfrm>
            <a:off x="762000" y="4994651"/>
            <a:ext cx="2014538" cy="263149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cs typeface="Courier New" panose="02070309020205020404" pitchFamily="49" charset="0"/>
              </a:rPr>
              <a:t>filename.split('.')[</a:t>
            </a:r>
            <a:r>
              <a:rPr lang="en-US" sz="18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−</a:t>
            </a:r>
            <a:r>
              <a:rPr lang="en-US" sz="1800" b="1" dirty="0">
                <a:solidFill>
                  <a:schemeClr val="tx1"/>
                </a:solidFill>
                <a:cs typeface="Courier New" panose="02070309020205020404" pitchFamily="49" charset="0"/>
              </a:rPr>
              <a:t>1]</a:t>
            </a:r>
            <a:endParaRPr lang="en-IN" sz="1800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042018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3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2343719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text file is software object that stores data on permanent medium such as disk or CD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When compared to keyboard input from human user, the main advantages of taking input data from a file are: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data set can be much larger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data can be input much more quickly and with less chance of error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data can be used repeatedly with the same program or with different programs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7918578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Files and Their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031051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Using a text editor such as Notepad or TextEdit, you can create, view, and save data in a text file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 text file containing six floating-point numbers might look like: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1"/>
          </p:nvPr>
        </p:nvSpPr>
        <p:spPr>
          <a:xfrm>
            <a:off x="313346" y="2650622"/>
            <a:ext cx="2014538" cy="603242"/>
          </a:xfrm>
        </p:spPr>
        <p:txBody>
          <a:bodyPr/>
          <a:lstStyle/>
          <a:p>
            <a:pPr marL="2286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34.6 22.33 66.75</a:t>
            </a:r>
          </a:p>
          <a:p>
            <a:pPr marL="2286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77.12 21.44 99.01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2"/>
          </p:nvPr>
        </p:nvSpPr>
        <p:spPr>
          <a:xfrm>
            <a:off x="364306" y="3406119"/>
            <a:ext cx="6900332" cy="632481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All data output to or input from a text file must be strings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Number must be converted to string before output</a:t>
            </a:r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738926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Writing Text to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738664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Data can be output to a text file using a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file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object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To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open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file for output: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56208" y="2357824"/>
            <a:ext cx="8415338" cy="1206484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f = open("my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file.txt", 'w')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If file does not exist, it is created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If it already exists, Python opens it; when data are written to the file and the file is closed, any data previously existing in the file are erased</a:t>
            </a: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2"/>
          </p:nvPr>
        </p:nvSpPr>
        <p:spPr>
          <a:xfrm>
            <a:off x="364306" y="3700330"/>
            <a:ext cx="5350694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This statement writes two line of text to the file: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3"/>
          </p:nvPr>
        </p:nvSpPr>
        <p:spPr>
          <a:xfrm>
            <a:off x="372586" y="4038600"/>
            <a:ext cx="4986338" cy="709425"/>
          </a:xfrm>
        </p:spPr>
        <p:txBody>
          <a:bodyPr/>
          <a:lstStyle/>
          <a:p>
            <a:pPr marL="228600" lvl="1" indent="0">
              <a:buClr>
                <a:srgbClr val="007FA9"/>
              </a:buClr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f.write("First line.\nSecond line.\n")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When all outputs are finished, close the file:</a:t>
            </a:r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idx="14"/>
          </p:nvPr>
        </p:nvSpPr>
        <p:spPr>
          <a:xfrm>
            <a:off x="601133" y="4809146"/>
            <a:ext cx="1303867" cy="263149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f.close()</a:t>
            </a:r>
            <a:endParaRPr lang="en-IN" sz="1800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970130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Writing Numbers to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341906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file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method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write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expects a string as an argument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Other types of data must first be converted to strings before being written to output file (e.g., using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str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)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Code segment that illustrates the output of integers to a text file</a:t>
            </a:r>
            <a:endParaRPr lang="en-US" b="1" dirty="0">
              <a:solidFill>
                <a:schemeClr val="tx1"/>
              </a:solidFill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98224" y="3022362"/>
            <a:ext cx="6298830" cy="1963614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import random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 = open(“integers.txt”, ‘w’)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count in range(500):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number = random.randint(1, 500)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f.write(str(number) + ‘\n’)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f.close()</a:t>
            </a:r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9909358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Text from a File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You open a file for input in a manner similar to opening a file for output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2"/>
          </p:nvPr>
        </p:nvSpPr>
        <p:spPr>
          <a:xfrm>
            <a:off x="338668" y="1870102"/>
            <a:ext cx="8415338" cy="866391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f = open(“my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file.txt”, ‘r’)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If the path name is not accessible from the current working directory, Python raises an error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3"/>
          </p:nvPr>
        </p:nvSpPr>
        <p:spPr>
          <a:xfrm>
            <a:off x="364754" y="2948919"/>
            <a:ext cx="8415338" cy="632481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There are several ways to read data from a file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Example: the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read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method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/>
          </p:nvPr>
        </p:nvSpPr>
        <p:spPr>
          <a:xfrm>
            <a:off x="330570" y="3689830"/>
            <a:ext cx="8415338" cy="1578894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text = f.read()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text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‘First line.\nSecond line.\n’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print(text)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First line.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Second line.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3357515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Text from a File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After input is finished,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read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returns an empty string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13346" y="1855152"/>
            <a:ext cx="8415338" cy="1315745"/>
          </a:xfrm>
        </p:spPr>
        <p:txBody>
          <a:bodyPr/>
          <a:lstStyle/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f = open("my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file.txt", 'r')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for line in f: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print(line)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First line.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Second line.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2"/>
          </p:nvPr>
        </p:nvSpPr>
        <p:spPr>
          <a:xfrm>
            <a:off x="364754" y="3429000"/>
            <a:ext cx="8415338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Next code segment inputs lines of text with readline: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3"/>
          </p:nvPr>
        </p:nvSpPr>
        <p:spPr>
          <a:xfrm>
            <a:off x="339116" y="3759438"/>
            <a:ext cx="8415338" cy="2105192"/>
          </a:xfrm>
        </p:spPr>
        <p:txBody>
          <a:bodyPr/>
          <a:lstStyle/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f = open(“my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file.txt”, ‘r’)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&gt;&gt;&gt; while True: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line = f.readline()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if line == “ ”: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break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print(line)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First line.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Second line.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575734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Numbers from a File (1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58477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In Python, string representations of integers and floating-point numbers can be converted to the numbers by using the functions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float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47662" y="2217632"/>
            <a:ext cx="8415338" cy="1842043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 = open(“integers.txt”, ‘r’)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theSum = 0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line in f: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line = line.strip()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number = int(line)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theSum += number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print(“The sum is”, theSum)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5888219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Numbers from a File (2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58477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The next code segment modifies the previous one to handle integers separated by spaces and/or newlines</a:t>
            </a: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38984" y="2234724"/>
            <a:ext cx="8415338" cy="2105192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 = open(“integers.txt”, ‘r’)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theSum = 0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line in f: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wordlist = line.split()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word in wordlist: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number = int(word)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theSum += number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print(“The sum is”, theSum)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408742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3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Numbers from a File (3 of 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440312"/>
              </p:ext>
            </p:extLst>
          </p:nvPr>
        </p:nvGraphicFramePr>
        <p:xfrm>
          <a:off x="1447800" y="1905000"/>
          <a:ext cx="6096000" cy="309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What it Does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open(filename, mode)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Opens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a file at the given filename and returns a file object. The mode can be ‘r’, ‘w’, ‘rw’, or ‘a’. The last two values mean read/write and append.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f.close()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Closes an output file. Not needed for input files.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f.write(aString)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Outputs aString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to a file.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f.read()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Inputs the contents of a file and returns them as a single string. Returns “” if the end of file is reached.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f.readline()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Inputs a line of text and returns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it as a string, including the newline. Returns “” if the end of file is reached.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4986764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23489"/>
            <a:ext cx="8026400" cy="8617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Accessing and Manipulating Files and Directories on Disk (1 of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2022092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complete set of directories and files forms a tree-like structure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With a single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root directory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at the top and branches down to nested files and subdirectories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You can access any other file or directory by using a </a:t>
            </a:r>
            <a:r>
              <a:rPr lang="en-US" b="1" dirty="0">
                <a:solidFill>
                  <a:schemeClr val="tx1"/>
                </a:solidFill>
              </a:rPr>
              <a:t>pathname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When the chain starts with the root directory, it’s called an </a:t>
            </a:r>
            <a:r>
              <a:rPr lang="en-US" b="1" dirty="0">
                <a:solidFill>
                  <a:schemeClr val="tx1"/>
                </a:solidFill>
              </a:rPr>
              <a:t>absolute pathname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When chain starts from the current working directory, it’s called a </a:t>
            </a:r>
            <a:r>
              <a:rPr lang="en-US" b="1" dirty="0">
                <a:solidFill>
                  <a:schemeClr val="tx1"/>
                </a:solidFill>
              </a:rPr>
              <a:t>relative pathname</a:t>
            </a:r>
          </a:p>
        </p:txBody>
      </p:sp>
      <p:pic>
        <p:nvPicPr>
          <p:cNvPr id="5" name="Picture 4" descr="Figure 4-6 Ay portion of a system. The different level of directories linked to the target directory. Lambert k is linked to parent, which forks into three directories, my file dot t x t, current, and sibling. Current further branches out into two directories, my file dot t x t, and child. Child links to my file dot t x t. Sibling links to my file dot t x 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720048"/>
            <a:ext cx="2332986" cy="2498056"/>
          </a:xfrm>
          <a:prstGeom prst="rect">
            <a:avLst/>
          </a:prstGeom>
        </p:spPr>
      </p:pic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3568781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23489"/>
            <a:ext cx="8026400" cy="8617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Accessing and Manipulating Files and Directories on Disk (2 of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877163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To open files named myfile.txt in the child, parent, and sibling directories, where current is the current working directory, you could use relative pathnames: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47662" y="2523146"/>
            <a:ext cx="8415338" cy="943335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child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 = open("child/my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file.txt", 'r')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parent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 = open("../my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file.txt", 'r')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sibling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 = open("../sibling/my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file.txt", 'r')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017211"/>
              </p:ext>
            </p:extLst>
          </p:nvPr>
        </p:nvGraphicFramePr>
        <p:xfrm>
          <a:off x="1295400" y="381000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Pathname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Target Directory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myfile.txt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child/myfile.txt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child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../myfile.txt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../sibling/myfile.txt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sibling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2173723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23489"/>
            <a:ext cx="8026400" cy="8617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Accessing and Manipulating Files and Directories on Disk (3 of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402196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When designing Python programs that interact with files, it’s </a:t>
            </a:r>
            <a:r>
              <a:rPr lang="en-US" altLang="ja-JP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good idea to include error recovery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example, before attempting to open a file for input, you should check to see if file exists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Function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os.path.exists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supports this checking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Example: To print all of the names of files in the current working directory with a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.py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extension: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47530" y="4022887"/>
            <a:ext cx="8415338" cy="1578894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import o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s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currentDirectoryPath = o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s.get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c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w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d()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listOfFileNames = o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s.list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dir(currentDirectoryPath)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name in listofFileNames: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if “.py” in name: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    print(name)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767617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23489"/>
            <a:ext cx="8026400" cy="8617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Accessing and Manipulating Files and Directories on Disk (4 of 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006264"/>
              </p:ext>
            </p:extLst>
          </p:nvPr>
        </p:nvGraphicFramePr>
        <p:xfrm>
          <a:off x="1524000" y="1397000"/>
          <a:ext cx="6096000" cy="407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 Module 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What it Does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dir(path)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Changes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the current working directory to 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</a:rPr>
                        <a:t>path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cwd()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Returns the path of the current working directory.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list dir(path)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Returns a list of the names in directory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named 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</a:rPr>
                        <a:t>path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mk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dir(path)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Creates a new directory named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path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and places it in the current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working directory.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remove(path)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Removes the file named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path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from the current working directory.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rename(old, new)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Renames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the file or directory named 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</a:rPr>
                        <a:t>old 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to 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</a:rPr>
                        <a:t>new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rmdir(path)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Removes the directory named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path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from the current working directory.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variable that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holds the separator character (‘/’ or ‘\’) of the current file system.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472835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23489"/>
            <a:ext cx="8026400" cy="8617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Accessing and Manipulating Files and Directories on Disk (5 of 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708506"/>
              </p:ext>
            </p:extLst>
          </p:nvPr>
        </p:nvGraphicFramePr>
        <p:xfrm>
          <a:off x="1597682" y="1981200"/>
          <a:ext cx="6096000" cy="324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s.path Module 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What it Does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exists(path)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Returns True if path exists and False otherwise.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dir(path)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Returns True if path names a directory and False otherwise.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</a:t>
                      </a:r>
                      <a:r>
                        <a:rPr lang="en-US" sz="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file(path)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Returns True if path names a file and False otherwise.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getsize(path)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Returns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the size of the object names by path in bytes.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normcase(path)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Converts path to a pathname appropriate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for the current file system; for example, converts forward slashes to backslashes and letters to lowercase on a Windows system.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6774507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38933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Summary (1 of 2)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314701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string is a sequence of zero or more characters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len function returns the number of characters in its string argument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 string is an immutable data structure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subscript operator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[]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can be used to access a character at a given position</a:t>
            </a:r>
          </a:p>
          <a:p>
            <a:pPr lvl="2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Can also be used for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slicing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(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[&lt;start&gt;:&lt;end&gt;]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)</a:t>
            </a:r>
          </a:p>
          <a:p>
            <a:pPr>
              <a:buClr>
                <a:srgbClr val="007FA9"/>
              </a:buClr>
            </a:pP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operator is used to detect the presence or absence of a substring in a string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Method: operation that is used with an object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string type includes many useful methods for use with string objects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694059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38933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Summary (2 of 2)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2420663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text file is a software object that allows a program to transfer data to and from permanent storage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file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object is used to open a connection to a text file for input or output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Some useful methods: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read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write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</a:t>
            </a: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readline</a:t>
            </a:r>
          </a:p>
          <a:p>
            <a:pPr>
              <a:buClr>
                <a:srgbClr val="007FA9"/>
              </a:buClr>
            </a:pPr>
            <a:r>
              <a:rPr 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loop treats an input file as a sequence of lines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On each pass through the loop, the loop</a:t>
            </a:r>
            <a:r>
              <a:rPr lang="en-IN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 variable is bound to a line of text read from the file</a:t>
            </a: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/>
          <a:p>
            <a:r>
              <a:rPr lang="en-US" sz="800" dirty="0">
                <a:solidFill>
                  <a:schemeClr val="tx1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0014421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ea6b96ac6a4f6abc0b795a816308d74f837cbe8"/>
</p:tagLst>
</file>

<file path=ppt/theme/theme1.xml><?xml version="1.0" encoding="utf-8"?>
<a:theme xmlns:a="http://schemas.openxmlformats.org/drawingml/2006/main" name="Office Theme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21812</TotalTime>
  <Words>6187</Words>
  <Application>Microsoft Office PowerPoint</Application>
  <PresentationFormat>On-screen Show (4:3)</PresentationFormat>
  <Paragraphs>547</Paragraphs>
  <Slides>45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Office Theme</vt:lpstr>
      <vt:lpstr>Equation</vt:lpstr>
      <vt:lpstr>Fundamentals of Python: First Programs  Second Edition</vt:lpstr>
      <vt:lpstr>Objectives (1 of 2)</vt:lpstr>
      <vt:lpstr>Objectives (2 of 2)</vt:lpstr>
      <vt:lpstr>Accessing Characters and Substrings in Strings</vt:lpstr>
      <vt:lpstr>The Structure of Strings</vt:lpstr>
      <vt:lpstr>The Subscript Operator (1 of 2)</vt:lpstr>
      <vt:lpstr>The Subscript Operator (2 of 2)</vt:lpstr>
      <vt:lpstr>Slicing for Substrings</vt:lpstr>
      <vt:lpstr>Testing for a Substring with the in Operator</vt:lpstr>
      <vt:lpstr>Data Encryption (1 of 6)</vt:lpstr>
      <vt:lpstr>Data Encryption (2 of 6)</vt:lpstr>
      <vt:lpstr>Data Encryption (3 of 6)</vt:lpstr>
      <vt:lpstr>Data Encryption (4 of 6)</vt:lpstr>
      <vt:lpstr>Data Encryption (5 of 6)</vt:lpstr>
      <vt:lpstr>Data Encryption (6 of 6)</vt:lpstr>
      <vt:lpstr>Strings and Number Systems (1 of 2)</vt:lpstr>
      <vt:lpstr>Strings and Number Systems (2 of 2)</vt:lpstr>
      <vt:lpstr>The Positional System for Representing Numbers</vt:lpstr>
      <vt:lpstr>Converting Binary to Decimal (1 of 2)</vt:lpstr>
      <vt:lpstr>Converting Binary to Decimal (2 of 2)</vt:lpstr>
      <vt:lpstr>Converting Decimal to Binary (1 of 3)</vt:lpstr>
      <vt:lpstr>Converting Decimal to Binary (2 of 3)</vt:lpstr>
      <vt:lpstr>Converting Decimal to Binary (3 of 3)</vt:lpstr>
      <vt:lpstr>Conversion Shortcuts</vt:lpstr>
      <vt:lpstr>Octal and Hexadecimal Numbers (1 of 2)</vt:lpstr>
      <vt:lpstr>Octal and Hexadecimal Numbers (2 of 2)</vt:lpstr>
      <vt:lpstr>String Methods (1 of 3)</vt:lpstr>
      <vt:lpstr>String Methods (2 of 3)</vt:lpstr>
      <vt:lpstr>String Methods (3 of 3)</vt:lpstr>
      <vt:lpstr>Text Files</vt:lpstr>
      <vt:lpstr>Text Files and Their Format</vt:lpstr>
      <vt:lpstr>Writing Text to a File</vt:lpstr>
      <vt:lpstr>Writing Numbers to a File</vt:lpstr>
      <vt:lpstr>Reading Text from a File (1 of 2)</vt:lpstr>
      <vt:lpstr>Reading Text from a File (2 of 2)</vt:lpstr>
      <vt:lpstr>Reading Numbers from a File (1 of 3)</vt:lpstr>
      <vt:lpstr>Reading Numbers from a File (2 of 3)</vt:lpstr>
      <vt:lpstr>Reading Numbers from a File (3 of 3)</vt:lpstr>
      <vt:lpstr>Accessing and Manipulating Files and Directories on Disk (1 of 5)</vt:lpstr>
      <vt:lpstr>Accessing and Manipulating Files and Directories on Disk (2 of 5)</vt:lpstr>
      <vt:lpstr>Accessing and Manipulating Files and Directories on Disk (3 of 5)</vt:lpstr>
      <vt:lpstr>Accessing and Manipulating Files and Directories on Disk (4 of 5)</vt:lpstr>
      <vt:lpstr>Accessing and Manipulating Files and Directories on Disk (5 of 5)</vt:lpstr>
      <vt:lpstr>Chapter Summary (1 of 2)</vt:lpstr>
      <vt:lpstr>Chapter Summary (2 of 2)</vt:lpstr>
    </vt:vector>
  </TitlesOfParts>
  <Company>SPi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Python: First Programs, 2e</dc:title>
  <dc:creator>Author</dc:creator>
  <cp:lastModifiedBy>Gavin Thomas Waller</cp:lastModifiedBy>
  <cp:revision>902</cp:revision>
  <cp:lastPrinted>2010-11-12T17:54:40Z</cp:lastPrinted>
  <dcterms:created xsi:type="dcterms:W3CDTF">2007-02-15T20:50:52Z</dcterms:created>
  <dcterms:modified xsi:type="dcterms:W3CDTF">2023-09-20T18:03:06Z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732539425</vt:i4>
  </property>
  <property fmtid="{D5CDD505-2E9C-101B-9397-08002B2CF9AE}" pid="3" name="_NewReviewCycle">
    <vt:lpwstr/>
  </property>
  <property fmtid="{D5CDD505-2E9C-101B-9397-08002B2CF9AE}" pid="4" name="_EmailSubject">
    <vt:lpwstr>Cengage Branding/Accessibility </vt:lpwstr>
  </property>
  <property fmtid="{D5CDD505-2E9C-101B-9397-08002B2CF9AE}" pid="5" name="_AuthorEmail">
    <vt:lpwstr>maria.garguilo@cengage.com</vt:lpwstr>
  </property>
  <property fmtid="{D5CDD505-2E9C-101B-9397-08002B2CF9AE}" pid="6" name="_AuthorEmailDisplayName">
    <vt:lpwstr>Garguilo, Maria</vt:lpwstr>
  </property>
  <property fmtid="{D5CDD505-2E9C-101B-9397-08002B2CF9AE}" pid="7" name="_PreviousAdHocReviewCycleID">
    <vt:i4>1933890983</vt:i4>
  </property>
</Properties>
</file>